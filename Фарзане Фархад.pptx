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4" r:id="rId6"/>
    <p:sldId id="260" r:id="rId7"/>
    <p:sldId id="265" r:id="rId8"/>
    <p:sldId id="266" r:id="rId9"/>
    <p:sldId id="261" r:id="rId10"/>
    <p:sldId id="267" r:id="rId11"/>
    <p:sldId id="262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3000"/>
            <a:ext cx="5667375" cy="1343025"/>
          </a:xfrm>
          <a:custGeom>
            <a:avLst/>
            <a:gdLst/>
            <a:ahLst/>
            <a:cxnLst/>
            <a:rect l="l" t="t" r="r" b="b"/>
            <a:pathLst>
              <a:path w="5667375" h="1343025">
                <a:moveTo>
                  <a:pt x="5667375" y="0"/>
                </a:moveTo>
                <a:lnTo>
                  <a:pt x="0" y="0"/>
                </a:lnTo>
                <a:lnTo>
                  <a:pt x="0" y="1343025"/>
                </a:lnTo>
                <a:lnTo>
                  <a:pt x="5667375" y="1343025"/>
                </a:lnTo>
                <a:lnTo>
                  <a:pt x="5667375" y="0"/>
                </a:lnTo>
                <a:close/>
              </a:path>
            </a:pathLst>
          </a:custGeom>
          <a:solidFill>
            <a:srgbClr val="0E9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42836"/>
            <a:ext cx="6415151" cy="636752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85800" y="371475"/>
            <a:ext cx="6115050" cy="6067425"/>
          </a:xfrm>
          <a:custGeom>
            <a:avLst/>
            <a:gdLst/>
            <a:ahLst/>
            <a:cxnLst/>
            <a:rect l="l" t="t" r="r" b="b"/>
            <a:pathLst>
              <a:path w="6115050" h="6067425">
                <a:moveTo>
                  <a:pt x="6115050" y="0"/>
                </a:moveTo>
                <a:lnTo>
                  <a:pt x="0" y="0"/>
                </a:lnTo>
                <a:lnTo>
                  <a:pt x="0" y="6067425"/>
                </a:lnTo>
                <a:lnTo>
                  <a:pt x="6115050" y="6067425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975" y="628650"/>
            <a:ext cx="5610225" cy="5600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098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3658" y="872224"/>
            <a:ext cx="4197350" cy="5263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14" dirty="0" err="1">
                <a:latin typeface="Trebuchet MS"/>
                <a:cs typeface="Trebuchet MS"/>
              </a:rPr>
              <a:t>Преподавател</a:t>
            </a:r>
            <a:r>
              <a:rPr lang="ru-RU" sz="2400" b="1" spc="-114" dirty="0">
                <a:latin typeface="Trebuchet MS"/>
                <a:cs typeface="Trebuchet MS"/>
              </a:rPr>
              <a:t>ь</a:t>
            </a:r>
            <a:r>
              <a:rPr sz="2400" b="1" spc="-114" dirty="0">
                <a:latin typeface="Trebuchet MS"/>
                <a:cs typeface="Trebuchet MS"/>
              </a:rPr>
              <a:t>:</a:t>
            </a:r>
            <a:r>
              <a:rPr lang="ru-RU" sz="24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Халилов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Матлаб</a:t>
            </a:r>
            <a:r>
              <a:rPr lang="ru-RU" sz="2400" dirty="0">
                <a:solidFill>
                  <a:srgbClr val="000000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 , Алиев Джамиль</a:t>
            </a:r>
            <a:r>
              <a:rPr sz="2400" spc="-175" dirty="0">
                <a:latin typeface="Trebuchet MS" panose="020B0603020202020204" pitchFamily="34" charset="0"/>
                <a:cs typeface="Trebuchet MS"/>
              </a:rPr>
              <a:t> </a:t>
            </a:r>
            <a:endParaRPr lang="ru-RU" sz="2400" spc="-175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endParaRPr lang="ru-RU" sz="2400" spc="-175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ts val="2720"/>
              </a:lnSpc>
              <a:spcBef>
                <a:spcPts val="105"/>
              </a:spcBef>
            </a:pPr>
            <a:r>
              <a:rPr sz="2400" b="1" spc="-125" dirty="0" err="1">
                <a:latin typeface="Trebuchet MS"/>
                <a:cs typeface="Trebuchet MS"/>
              </a:rPr>
              <a:t>Студент</a:t>
            </a:r>
            <a:r>
              <a:rPr sz="2400" b="1" spc="-125" dirty="0">
                <a:latin typeface="Trebuchet MS"/>
                <a:cs typeface="Trebuchet MS"/>
              </a:rPr>
              <a:t>:</a:t>
            </a:r>
            <a:r>
              <a:rPr sz="2400" b="1" spc="-21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Фарзане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Фархад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400" b="1" spc="-175" dirty="0">
                <a:latin typeface="Trebuchet MS"/>
                <a:cs typeface="Trebuchet MS"/>
              </a:rPr>
              <a:t>Группа:</a:t>
            </a:r>
            <a:r>
              <a:rPr sz="2400" b="1" spc="-2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680.23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b="1" spc="-140" dirty="0">
                <a:latin typeface="Trebuchet MS"/>
                <a:cs typeface="Trebuchet MS"/>
              </a:rPr>
              <a:t>Предмет:</a:t>
            </a:r>
            <a:r>
              <a:rPr sz="2400" b="1" spc="-210" dirty="0">
                <a:latin typeface="Trebuchet MS"/>
                <a:cs typeface="Trebuchet MS"/>
              </a:rPr>
              <a:t> 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Веб-системы и технологии</a:t>
            </a:r>
            <a:endParaRPr lang="ru-RU" sz="2400" b="1" spc="-210" dirty="0">
              <a:latin typeface="Trebuchet MS" panose="020B0603020202020204" pitchFamily="34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b="1" spc="-245" dirty="0" err="1">
                <a:latin typeface="Trebuchet MS"/>
                <a:cs typeface="Trebuchet MS"/>
              </a:rPr>
              <a:t>Тема</a:t>
            </a:r>
            <a:r>
              <a:rPr sz="2400" b="1" spc="-245" dirty="0">
                <a:latin typeface="Trebuchet MS"/>
                <a:cs typeface="Trebuchet MS"/>
              </a:rPr>
              <a:t>:</a:t>
            </a:r>
            <a:r>
              <a:rPr lang="ru-RU" sz="2400" dirty="0">
                <a:effectLst/>
                <a:latin typeface="Trebuchet MS" panose="020B0603020202020204" pitchFamily="34" charset="0"/>
                <a:ea typeface="Times New Roman" panose="02020603050405020304" pitchFamily="18" charset="0"/>
              </a:rPr>
              <a:t>Разработка онлайновой информационно-справочной системы для интернет-магазина спортивной одежды</a:t>
            </a:r>
            <a:endParaRPr sz="2400" dirty="0">
              <a:latin typeface="Trebuchet MS" panose="020B0603020202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4DE35-69A8-1CF7-D322-BBF82470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69" y="496309"/>
            <a:ext cx="8513144" cy="1756665"/>
          </a:xfrm>
        </p:spPr>
        <p:txBody>
          <a:bodyPr>
            <a:normAutofit/>
          </a:bodyPr>
          <a:lstStyle/>
          <a:p>
            <a:r>
              <a:rPr lang="ru-RU" b="1">
                <a:ea typeface="+mj-lt"/>
                <a:cs typeface="+mj-lt"/>
              </a:rPr>
              <a:t>Цель и задачи разработки</a:t>
            </a:r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BFB2DDA-9E38-C036-6593-B57C41A68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07" y="2041477"/>
            <a:ext cx="5474282" cy="460133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1800" b="1" dirty="0"/>
          </a:p>
          <a:p>
            <a:pPr>
              <a:buNone/>
            </a:pPr>
            <a:r>
              <a:rPr lang="en-US" sz="1600" b="1" dirty="0">
                <a:ea typeface="+mn-lt"/>
                <a:cs typeface="+mn-lt"/>
              </a:rPr>
              <a:t>HTML </a:t>
            </a:r>
            <a:r>
              <a:rPr lang="en-US" sz="1600" dirty="0">
                <a:ea typeface="+mn-lt"/>
                <a:cs typeface="+mn-lt"/>
              </a:rPr>
              <a:t>— </a:t>
            </a:r>
            <a:r>
              <a:rPr lang="en-US" sz="1600" dirty="0" err="1">
                <a:ea typeface="+mn-lt"/>
                <a:cs typeface="+mn-lt"/>
              </a:rPr>
              <a:t>язык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разметки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который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создаёт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структуру</a:t>
            </a:r>
            <a:endParaRPr lang="en-US" sz="16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сайта</a:t>
            </a:r>
            <a:r>
              <a:rPr lang="en-US" sz="1600" dirty="0">
                <a:ea typeface="+mn-lt"/>
                <a:cs typeface="+mn-lt"/>
              </a:rPr>
              <a:t>: </a:t>
            </a:r>
            <a:r>
              <a:rPr lang="en-US" sz="1600" dirty="0" err="1">
                <a:ea typeface="+mn-lt"/>
                <a:cs typeface="+mn-lt"/>
              </a:rPr>
              <a:t>текст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картинки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кнопки</a:t>
            </a:r>
            <a:r>
              <a:rPr lang="en-US" sz="1600" dirty="0">
                <a:ea typeface="+mn-lt"/>
                <a:cs typeface="+mn-lt"/>
              </a:rPr>
              <a:t> и </a:t>
            </a:r>
            <a:r>
              <a:rPr lang="en-US" sz="1600" dirty="0" err="1">
                <a:ea typeface="+mn-lt"/>
                <a:cs typeface="+mn-lt"/>
              </a:rPr>
              <a:t>разделы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pPr>
              <a:buNone/>
            </a:pPr>
            <a:r>
              <a:rPr lang="en-US" sz="1600" b="1" dirty="0">
                <a:ea typeface="+mn-lt"/>
                <a:cs typeface="+mn-lt"/>
              </a:rPr>
              <a:t>CSS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отвечает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за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дизайн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сайта</a:t>
            </a:r>
            <a:r>
              <a:rPr lang="en-US" sz="1600" dirty="0">
                <a:ea typeface="+mn-lt"/>
                <a:cs typeface="+mn-lt"/>
              </a:rPr>
              <a:t>: </a:t>
            </a:r>
            <a:r>
              <a:rPr lang="en-US" sz="1600" dirty="0" err="1">
                <a:ea typeface="+mn-lt"/>
                <a:cs typeface="+mn-lt"/>
              </a:rPr>
              <a:t>цвета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размеры</a:t>
            </a:r>
            <a:r>
              <a:rPr lang="en-US" sz="1600" dirty="0">
                <a:ea typeface="+mn-lt"/>
                <a:cs typeface="+mn-lt"/>
              </a:rPr>
              <a:t>,</a:t>
            </a:r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расположение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элементов</a:t>
            </a:r>
            <a:r>
              <a:rPr lang="en-US" sz="1600" dirty="0">
                <a:ea typeface="+mn-lt"/>
                <a:cs typeface="+mn-lt"/>
              </a:rPr>
              <a:t> и </a:t>
            </a:r>
            <a:r>
              <a:rPr lang="en-US" sz="1600" dirty="0" err="1">
                <a:ea typeface="+mn-lt"/>
                <a:cs typeface="+mn-lt"/>
              </a:rPr>
              <a:t>оформление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pPr>
              <a:buNone/>
            </a:pPr>
            <a:r>
              <a:rPr lang="en-US" sz="1600" b="1" dirty="0"/>
              <a:t>JavaScript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добавляет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интерактивность</a:t>
            </a:r>
            <a:r>
              <a:rPr lang="en-US" sz="1600" dirty="0">
                <a:ea typeface="+mn-lt"/>
                <a:cs typeface="+mn-lt"/>
              </a:rPr>
              <a:t>: </a:t>
            </a:r>
            <a:r>
              <a:rPr lang="en-US" sz="1600" dirty="0" err="1">
                <a:ea typeface="+mn-lt"/>
                <a:cs typeface="+mn-lt"/>
              </a:rPr>
              <a:t>кнопки</a:t>
            </a:r>
            <a:r>
              <a:rPr lang="en-US" sz="1600" dirty="0">
                <a:ea typeface="+mn-lt"/>
                <a:cs typeface="+mn-lt"/>
              </a:rPr>
              <a:t>,</a:t>
            </a:r>
          </a:p>
          <a:p>
            <a:pPr>
              <a:buNone/>
            </a:pPr>
            <a:r>
              <a:rPr lang="en-US" sz="1600" dirty="0" err="1">
                <a:ea typeface="+mn-lt"/>
                <a:cs typeface="+mn-lt"/>
              </a:rPr>
              <a:t>поиск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анимации</a:t>
            </a:r>
            <a:r>
              <a:rPr lang="en-US" sz="1600" dirty="0">
                <a:ea typeface="+mn-lt"/>
                <a:cs typeface="+mn-lt"/>
              </a:rPr>
              <a:t> и </a:t>
            </a:r>
            <a:r>
              <a:rPr lang="en-US" sz="1600" dirty="0" err="1">
                <a:ea typeface="+mn-lt"/>
                <a:cs typeface="+mn-lt"/>
              </a:rPr>
              <a:t>другие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функции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/>
          </a:p>
          <a:p>
            <a:pPr>
              <a:buNone/>
            </a:pPr>
            <a:r>
              <a:rPr lang="en-US" sz="1800" b="1" i="1" dirty="0"/>
              <a:t>Какой </a:t>
            </a:r>
            <a:r>
              <a:rPr lang="en-US" sz="1800" b="1" i="1" dirty="0" err="1"/>
              <a:t>код</a:t>
            </a:r>
            <a:r>
              <a:rPr lang="en-US" sz="1800" b="1" i="1" dirty="0"/>
              <a:t> </a:t>
            </a:r>
            <a:r>
              <a:rPr lang="en-US" sz="1800" b="1" i="1" dirty="0" err="1"/>
              <a:t>использован</a:t>
            </a:r>
            <a:endParaRPr lang="en-US" sz="1800"/>
          </a:p>
          <a:p>
            <a:pPr>
              <a:buNone/>
            </a:pPr>
            <a:r>
              <a:rPr lang="en-US" sz="1600" dirty="0">
                <a:ea typeface="+mn-lt"/>
                <a:cs typeface="+mn-lt"/>
              </a:rPr>
              <a:t>Для </a:t>
            </a:r>
            <a:r>
              <a:rPr lang="en-US" sz="1600" dirty="0" err="1">
                <a:ea typeface="+mn-lt"/>
                <a:cs typeface="+mn-lt"/>
              </a:rPr>
              <a:t>этой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страницы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использованы</a:t>
            </a:r>
            <a:r>
              <a:rPr lang="en-US" sz="1600" dirty="0">
                <a:ea typeface="+mn-lt"/>
                <a:cs typeface="+mn-lt"/>
              </a:rPr>
              <a:t>:</a:t>
            </a:r>
            <a:endParaRPr lang="en-US" sz="1600"/>
          </a:p>
          <a:p>
            <a:pPr>
              <a:buFont typeface="Arial"/>
            </a:pPr>
            <a:r>
              <a:rPr lang="en-US" sz="1600" b="1" dirty="0">
                <a:ea typeface="+mn-lt"/>
                <a:cs typeface="+mn-lt"/>
              </a:rPr>
              <a:t>HTML</a:t>
            </a:r>
            <a:r>
              <a:rPr lang="en-US" sz="1600" dirty="0">
                <a:ea typeface="+mn-lt"/>
                <a:cs typeface="+mn-lt"/>
              </a:rPr>
              <a:t> — </a:t>
            </a:r>
            <a:r>
              <a:rPr lang="en-US" sz="1600" dirty="0" err="1">
                <a:ea typeface="+mn-lt"/>
                <a:cs typeface="+mn-lt"/>
              </a:rPr>
              <a:t>создание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текста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меню</a:t>
            </a:r>
            <a:r>
              <a:rPr lang="en-US" sz="1600" dirty="0">
                <a:ea typeface="+mn-lt"/>
                <a:cs typeface="+mn-lt"/>
              </a:rPr>
              <a:t> и </a:t>
            </a:r>
            <a:r>
              <a:rPr lang="en-US" sz="1600" dirty="0" err="1">
                <a:ea typeface="+mn-lt"/>
                <a:cs typeface="+mn-lt"/>
              </a:rPr>
              <a:t>кнопок</a:t>
            </a:r>
            <a:r>
              <a:rPr lang="en-US" sz="1600" dirty="0">
                <a:ea typeface="+mn-lt"/>
                <a:cs typeface="+mn-lt"/>
              </a:rPr>
              <a:t>; </a:t>
            </a:r>
            <a:endParaRPr lang="en-US" sz="1600"/>
          </a:p>
          <a:p>
            <a:pPr>
              <a:buFont typeface="Arial"/>
            </a:pPr>
            <a:r>
              <a:rPr lang="en-US" sz="1600" b="1" dirty="0">
                <a:ea typeface="+mn-lt"/>
                <a:cs typeface="+mn-lt"/>
              </a:rPr>
              <a:t>CSS</a:t>
            </a:r>
            <a:r>
              <a:rPr lang="en-US" sz="1600" dirty="0">
                <a:ea typeface="+mn-lt"/>
                <a:cs typeface="+mn-lt"/>
              </a:rPr>
              <a:t> — </a:t>
            </a:r>
            <a:r>
              <a:rPr lang="en-US" sz="1600" dirty="0" err="1">
                <a:ea typeface="+mn-lt"/>
                <a:cs typeface="+mn-lt"/>
              </a:rPr>
              <a:t>оформление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фона</a:t>
            </a:r>
            <a:r>
              <a:rPr lang="en-US" sz="1600" dirty="0">
                <a:ea typeface="+mn-lt"/>
                <a:cs typeface="+mn-lt"/>
              </a:rPr>
              <a:t>, </a:t>
            </a:r>
            <a:r>
              <a:rPr lang="en-US" sz="1600" dirty="0" err="1">
                <a:ea typeface="+mn-lt"/>
                <a:cs typeface="+mn-lt"/>
              </a:rPr>
              <a:t>шрифтов</a:t>
            </a:r>
            <a:r>
              <a:rPr lang="en-US" sz="1600" dirty="0">
                <a:ea typeface="+mn-lt"/>
                <a:cs typeface="+mn-lt"/>
              </a:rPr>
              <a:t> и </a:t>
            </a:r>
            <a:r>
              <a:rPr lang="en-US" sz="1600" dirty="0" err="1">
                <a:ea typeface="+mn-lt"/>
                <a:cs typeface="+mn-lt"/>
              </a:rPr>
              <a:t>расположения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элементов</a:t>
            </a:r>
            <a:r>
              <a:rPr lang="en-US" sz="1600" dirty="0">
                <a:ea typeface="+mn-lt"/>
                <a:cs typeface="+mn-lt"/>
              </a:rPr>
              <a:t>; </a:t>
            </a:r>
            <a:endParaRPr lang="en-US" sz="1600"/>
          </a:p>
          <a:p>
            <a:pPr>
              <a:buFont typeface="Arial"/>
            </a:pPr>
            <a:r>
              <a:rPr lang="en-US" sz="1600" b="1" dirty="0">
                <a:ea typeface="+mn-lt"/>
                <a:cs typeface="+mn-lt"/>
              </a:rPr>
              <a:t>JavaScript</a:t>
            </a:r>
            <a:r>
              <a:rPr lang="en-US" sz="1600" dirty="0">
                <a:ea typeface="+mn-lt"/>
                <a:cs typeface="+mn-lt"/>
              </a:rPr>
              <a:t> — </a:t>
            </a:r>
            <a:r>
              <a:rPr lang="en-US" sz="1600" dirty="0" err="1">
                <a:ea typeface="+mn-lt"/>
                <a:cs typeface="+mn-lt"/>
              </a:rPr>
              <a:t>интерактивные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функции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сайта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endParaRPr lang="en-US" sz="1900"/>
          </a:p>
        </p:txBody>
      </p:sp>
      <p:pic>
        <p:nvPicPr>
          <p:cNvPr id="4" name="Объект 3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1565D9-8FD8-0AA4-F983-FDBC3F365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4"/>
          <a:stretch>
            <a:fillRect/>
          </a:stretch>
        </p:blipFill>
        <p:spPr>
          <a:xfrm>
            <a:off x="6299530" y="2528859"/>
            <a:ext cx="5425243" cy="3425692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5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Рисунок 7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811447-4AFC-AA57-D017-A43606305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86" y="321734"/>
            <a:ext cx="4852536" cy="2905170"/>
          </a:xfrm>
          <a:prstGeom prst="rect">
            <a:avLst/>
          </a:prstGeom>
        </p:spPr>
      </p:pic>
      <p:pic>
        <p:nvPicPr>
          <p:cNvPr id="81" name="Рисунок 8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7F7484-A710-01AC-426C-DB46C3AD8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98" y="3631096"/>
            <a:ext cx="5265429" cy="2951059"/>
          </a:xfrm>
          <a:prstGeom prst="rect">
            <a:avLst/>
          </a:prstGeom>
        </p:spPr>
      </p:pic>
      <p:sp>
        <p:nvSpPr>
          <p:cNvPr id="175" name="Rectangle 177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9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Рисунок 81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CC3607-A894-1BE7-B4BB-4A3BAF2B3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603" y="321734"/>
            <a:ext cx="4980832" cy="627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000ED-3D25-0561-6D56-9ABD56579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45" y="361631"/>
            <a:ext cx="6038826" cy="1341238"/>
          </a:xfrm>
        </p:spPr>
        <p:txBody>
          <a:bodyPr>
            <a:normAutofit/>
          </a:bodyPr>
          <a:lstStyle/>
          <a:p>
            <a:r>
              <a:rPr lang="ru-RU" sz="3600" b="1">
                <a:ea typeface="+mj-lt"/>
                <a:cs typeface="+mj-lt"/>
              </a:rPr>
              <a:t>Используемые технологии</a:t>
            </a:r>
            <a:endParaRPr lang="ru-RU" sz="36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1475E3-883B-2F0B-EE30-CE7135088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74" y="1725682"/>
            <a:ext cx="4848857" cy="49210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/>
              <a:t>HTML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Структура</a:t>
            </a:r>
            <a:r>
              <a:rPr lang="en-US" sz="1800" dirty="0">
                <a:ea typeface="+mn-lt"/>
                <a:cs typeface="+mn-lt"/>
              </a:rPr>
              <a:t> web-</a:t>
            </a:r>
            <a:r>
              <a:rPr lang="en-US" sz="1800" dirty="0" err="1">
                <a:ea typeface="+mn-lt"/>
                <a:cs typeface="+mn-lt"/>
              </a:rPr>
              <a:t>страниц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err="1">
                <a:ea typeface="+mn-lt"/>
                <a:cs typeface="+mn-lt"/>
              </a:rPr>
              <a:t>Навигационное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меню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err="1">
                <a:ea typeface="+mn-lt"/>
                <a:cs typeface="+mn-lt"/>
              </a:rPr>
              <a:t>Каталог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товаров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/>
              <a:t>CSS</a:t>
            </a:r>
          </a:p>
          <a:p>
            <a:r>
              <a:rPr lang="en-US" sz="1800" err="1">
                <a:ea typeface="+mn-lt"/>
                <a:cs typeface="+mn-lt"/>
              </a:rPr>
              <a:t>Дизайн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интерфейса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err="1">
                <a:ea typeface="+mn-lt"/>
                <a:cs typeface="+mn-lt"/>
              </a:rPr>
              <a:t>Адаптивная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вёрстка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Анимации</a:t>
            </a:r>
            <a:r>
              <a:rPr lang="en-US" sz="1800" dirty="0">
                <a:ea typeface="+mn-lt"/>
                <a:cs typeface="+mn-lt"/>
              </a:rPr>
              <a:t> и hover effects </a:t>
            </a:r>
            <a:endParaRPr lang="en-US" sz="1800" dirty="0"/>
          </a:p>
          <a:p>
            <a:pPr marL="0" indent="0">
              <a:buNone/>
            </a:pPr>
            <a:r>
              <a:rPr lang="en-US" sz="1800" b="1"/>
              <a:t>JavaScript</a:t>
            </a:r>
          </a:p>
          <a:p>
            <a:r>
              <a:rPr lang="en-US" sz="1800" err="1">
                <a:ea typeface="+mn-lt"/>
                <a:cs typeface="+mn-lt"/>
              </a:rPr>
              <a:t>Поиск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товаров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Modal window </a:t>
            </a:r>
            <a:endParaRPr lang="en-US" sz="1800"/>
          </a:p>
          <a:p>
            <a:r>
              <a:rPr lang="en-US" sz="1800" err="1">
                <a:ea typeface="+mn-lt"/>
                <a:cs typeface="+mn-lt"/>
              </a:rPr>
              <a:t>Проверка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формы</a:t>
            </a: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r>
              <a:rPr lang="en-US" sz="1800">
                <a:ea typeface="+mn-lt"/>
                <a:cs typeface="+mn-lt"/>
              </a:rPr>
              <a:t>Flash messages</a:t>
            </a:r>
            <a:endParaRPr lang="en-US" sz="1800"/>
          </a:p>
          <a:p>
            <a:endParaRPr lang="en-US" sz="1000"/>
          </a:p>
        </p:txBody>
      </p:sp>
      <p:pic>
        <p:nvPicPr>
          <p:cNvPr id="4" name="Объект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7583652-C5F1-11FA-A0D9-B4CD24DE7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4" y="643234"/>
            <a:ext cx="4374831" cy="262489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одежд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A855301-2D33-EE8F-5494-F4D74A225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646" y="3642754"/>
            <a:ext cx="4491887" cy="248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8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007EDF-1566-7C04-21D0-A2FDE0479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71" y="457433"/>
            <a:ext cx="3694557" cy="290517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9CBBF9-73C6-5FE4-B098-1E8F99BAE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94" y="3683288"/>
            <a:ext cx="3790911" cy="276056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284CBF-78CB-74EC-5A6A-1EC3ADCDE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672057"/>
            <a:ext cx="5426764" cy="536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9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33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35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277EAE-FC73-4AE5-9BDB-0BE814F95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CC8DCE-8D82-400F-A315-4CD008FDA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39B13E9-2F1D-489D-842D-20AC7313D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E7447BD-F39C-4290-8A87-E61FD98A2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EB36854-40EE-40C4-A488-60EAA83B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7165098-3853-4969-9EAF-796B9751F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7EF9153-D515-4DA2-A63C-58C029830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Объект 3" descr="Изображение выглядит как текст, одежда, снимок экрана, курт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23F4F3-2E23-D317-92CC-CE08318CC9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70" r="24445" b="3"/>
          <a:stretch>
            <a:fillRect/>
          </a:stretch>
        </p:blipFill>
        <p:spPr>
          <a:xfrm>
            <a:off x="600456" y="412377"/>
            <a:ext cx="2647399" cy="316277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0585" y="561296"/>
            <a:ext cx="304800" cy="429768"/>
            <a:chOff x="215328" y="-46937"/>
            <a:chExt cx="304800" cy="2773841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Рисунок 4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6363E9-5442-DDA1-33EA-16BACD894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08" r="23227" b="1"/>
          <a:stretch>
            <a:fillRect/>
          </a:stretch>
        </p:blipFill>
        <p:spPr>
          <a:xfrm>
            <a:off x="3343738" y="412377"/>
            <a:ext cx="2647399" cy="316277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E87153-BDC1-7A41-D736-6CE4F3DDF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18" r="28838" b="-2"/>
          <a:stretch>
            <a:fillRect/>
          </a:stretch>
        </p:blipFill>
        <p:spPr>
          <a:xfrm>
            <a:off x="6087020" y="412377"/>
            <a:ext cx="2647399" cy="316277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Рисунок 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6ADCA5-8D69-E171-CE25-1CCB45E900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89" r="27863" b="2"/>
          <a:stretch>
            <a:fillRect/>
          </a:stretch>
        </p:blipFill>
        <p:spPr>
          <a:xfrm>
            <a:off x="8830303" y="412377"/>
            <a:ext cx="2647399" cy="3162778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E1553-CA3A-B52D-799D-E7B30027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318" y="4320695"/>
            <a:ext cx="4203282" cy="1894265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Структура</a:t>
            </a:r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и </a:t>
            </a:r>
            <a:r>
              <a:rPr lang="en-US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страницы</a:t>
            </a:r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сайта</a:t>
            </a:r>
            <a:endParaRPr lang="en-US" sz="4800" b="1" kern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Content Placeholder 30">
            <a:extLst>
              <a:ext uri="{FF2B5EF4-FFF2-40B4-BE49-F238E27FC236}">
                <a16:creationId xmlns:a16="http://schemas.microsoft.com/office/drawing/2014/main" id="{1250D20B-0CD6-6DC8-7A3E-2AA939A2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6786" y="4320701"/>
            <a:ext cx="6229990" cy="1827041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Сайт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состоит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из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нескольких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основных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страниц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: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главная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страница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каталог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товаров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, About и Contact.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В web-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приложении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реализованы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hero section,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категории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товаров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карточки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продукции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и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контактная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форма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для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обратной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связи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320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69E666-E271-C57E-A545-EBF99E4BE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33" y="1273445"/>
            <a:ext cx="5372100" cy="4311110"/>
          </a:xfrm>
          <a:prstGeom prst="rect">
            <a:avLst/>
          </a:prstGeom>
        </p:spPr>
      </p:pic>
      <p:sp>
        <p:nvSpPr>
          <p:cNvPr id="2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D69D8D-4558-C166-9DEB-F05F2D55D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6" y="937689"/>
            <a:ext cx="5372099" cy="498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58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7F513E-545D-9939-2DF2-B553F4D09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5"/>
          <a:stretch>
            <a:fillRect/>
          </a:stretch>
        </p:blipFill>
        <p:spPr>
          <a:xfrm>
            <a:off x="-1" y="-2"/>
            <a:ext cx="6488206" cy="685800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0D4A0A-9134-4EA9-77AA-46040F483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9" y="1932363"/>
            <a:ext cx="4391835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Этот </a:t>
            </a:r>
            <a:r>
              <a:rPr lang="en-US" sz="2400" b="1" err="1">
                <a:ea typeface="+mn-lt"/>
                <a:cs typeface="+mn-lt"/>
              </a:rPr>
              <a:t>код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реализует</a:t>
            </a:r>
            <a:r>
              <a:rPr lang="en-US" sz="2400" b="1">
                <a:ea typeface="+mn-lt"/>
                <a:cs typeface="+mn-lt"/>
              </a:rPr>
              <a:t>:</a:t>
            </a:r>
            <a:endParaRPr lang="en-US" sz="2400" b="1"/>
          </a:p>
          <a:p>
            <a:r>
              <a:rPr lang="en-US" sz="2400" dirty="0" err="1">
                <a:ea typeface="+mn-lt"/>
                <a:cs typeface="+mn-lt"/>
              </a:rPr>
              <a:t>навигацию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между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страницами</a:t>
            </a:r>
            <a:r>
              <a:rPr lang="en-US" sz="2400" dirty="0">
                <a:ea typeface="+mn-lt"/>
                <a:cs typeface="+mn-lt"/>
              </a:rPr>
              <a:t>, </a:t>
            </a:r>
            <a:endParaRPr lang="en-US" sz="3200"/>
          </a:p>
          <a:p>
            <a:r>
              <a:rPr lang="en-US" sz="2400" dirty="0" err="1">
                <a:ea typeface="+mn-lt"/>
                <a:cs typeface="+mn-lt"/>
              </a:rPr>
              <a:t>карточки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товаров</a:t>
            </a:r>
            <a:r>
              <a:rPr lang="en-US" sz="2400" dirty="0">
                <a:ea typeface="+mn-lt"/>
                <a:cs typeface="+mn-lt"/>
              </a:rPr>
              <a:t>, </a:t>
            </a:r>
            <a:endParaRPr lang="en-US" sz="3200"/>
          </a:p>
          <a:p>
            <a:r>
              <a:rPr lang="en-US" sz="2400" dirty="0" err="1">
                <a:ea typeface="+mn-lt"/>
                <a:cs typeface="+mn-lt"/>
              </a:rPr>
              <a:t>форму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обратной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связи</a:t>
            </a:r>
            <a:r>
              <a:rPr lang="en-US" sz="2400" dirty="0">
                <a:ea typeface="+mn-lt"/>
                <a:cs typeface="+mn-lt"/>
              </a:rPr>
              <a:t>, </a:t>
            </a:r>
            <a:endParaRPr lang="en-US" sz="3200"/>
          </a:p>
          <a:p>
            <a:r>
              <a:rPr lang="en-US" sz="2400" dirty="0" err="1">
                <a:ea typeface="+mn-lt"/>
                <a:cs typeface="+mn-lt"/>
              </a:rPr>
              <a:t>интерактивность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сайта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119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81BC3-15B2-6EEB-DE25-B180EF3C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95" y="4815654"/>
            <a:ext cx="3864348" cy="1487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Функциональные</a:t>
            </a:r>
            <a:r>
              <a:rPr lang="en-US" sz="3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возможности</a:t>
            </a:r>
            <a:endParaRPr lang="en-US" sz="3600" kern="1200" err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Рисунок 6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B736E0-B03B-ACF1-08FE-E2782C76BB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61" r="31361" b="-1"/>
          <a:stretch>
            <a:fillRect/>
          </a:stretch>
        </p:blipFill>
        <p:spPr>
          <a:xfrm>
            <a:off x="-4" y="10"/>
            <a:ext cx="2952750" cy="3940619"/>
          </a:xfrm>
          <a:custGeom>
            <a:avLst/>
            <a:gdLst/>
            <a:ahLst/>
            <a:cxnLst/>
            <a:rect l="l" t="t" r="r" b="b"/>
            <a:pathLst>
              <a:path w="2952750" h="3940629">
                <a:moveTo>
                  <a:pt x="0" y="0"/>
                </a:moveTo>
                <a:lnTo>
                  <a:pt x="2952750" y="0"/>
                </a:lnTo>
                <a:lnTo>
                  <a:pt x="2952749" y="3847994"/>
                </a:lnTo>
                <a:lnTo>
                  <a:pt x="0" y="3940629"/>
                </a:lnTo>
                <a:close/>
              </a:path>
            </a:pathLst>
          </a:custGeom>
        </p:spPr>
      </p:pic>
      <p:pic>
        <p:nvPicPr>
          <p:cNvPr id="6" name="Рисунок 5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90A25D-E41C-D932-5FA6-5DAA5579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91" r="27470" b="-2"/>
          <a:stretch>
            <a:fillRect/>
          </a:stretch>
        </p:blipFill>
        <p:spPr>
          <a:xfrm>
            <a:off x="3143253" y="10"/>
            <a:ext cx="2857499" cy="3842008"/>
          </a:xfrm>
          <a:custGeom>
            <a:avLst/>
            <a:gdLst/>
            <a:ahLst/>
            <a:cxnLst/>
            <a:rect l="l" t="t" r="r" b="b"/>
            <a:pathLst>
              <a:path w="2857499" h="3842018">
                <a:moveTo>
                  <a:pt x="0" y="0"/>
                </a:moveTo>
                <a:lnTo>
                  <a:pt x="2857499" y="0"/>
                </a:lnTo>
                <a:lnTo>
                  <a:pt x="2857499" y="3799815"/>
                </a:lnTo>
                <a:lnTo>
                  <a:pt x="2408465" y="3766458"/>
                </a:lnTo>
                <a:lnTo>
                  <a:pt x="0" y="3842018"/>
                </a:lnTo>
                <a:close/>
              </a:path>
            </a:pathLst>
          </a:custGeom>
        </p:spPr>
      </p:pic>
      <p:pic>
        <p:nvPicPr>
          <p:cNvPr id="8" name="Рисунок 7" descr="Изображение выглядит как текст, снимок экрана, одежд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B7F4F2-1319-C53C-9922-C1FA07DEF7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013" r="26774" b="-1"/>
          <a:stretch>
            <a:fillRect/>
          </a:stretch>
        </p:blipFill>
        <p:spPr>
          <a:xfrm>
            <a:off x="6191251" y="10"/>
            <a:ext cx="2857499" cy="4026227"/>
          </a:xfrm>
          <a:custGeom>
            <a:avLst/>
            <a:gdLst/>
            <a:ahLst/>
            <a:cxnLst/>
            <a:rect l="l" t="t" r="r" b="b"/>
            <a:pathLst>
              <a:path w="2857499" h="4026237">
                <a:moveTo>
                  <a:pt x="0" y="0"/>
                </a:moveTo>
                <a:lnTo>
                  <a:pt x="2857499" y="0"/>
                </a:lnTo>
                <a:lnTo>
                  <a:pt x="2857499" y="4026237"/>
                </a:lnTo>
                <a:lnTo>
                  <a:pt x="0" y="3813966"/>
                </a:lnTo>
                <a:close/>
              </a:path>
            </a:pathLst>
          </a:custGeom>
        </p:spPr>
      </p:pic>
      <p:pic>
        <p:nvPicPr>
          <p:cNvPr id="4" name="Объект 3" descr="Изображение выглядит как текст, снимок экрана, башмак, обув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F7720A-8046-D38B-93DD-9E6541AED6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300" r="23590" b="-1"/>
          <a:stretch>
            <a:fillRect/>
          </a:stretch>
        </p:blipFill>
        <p:spPr>
          <a:xfrm>
            <a:off x="9239249" y="10"/>
            <a:ext cx="2952751" cy="4049475"/>
          </a:xfrm>
          <a:custGeom>
            <a:avLst/>
            <a:gdLst/>
            <a:ahLst/>
            <a:cxnLst/>
            <a:rect l="l" t="t" r="r" b="b"/>
            <a:pathLst>
              <a:path w="2952751" h="4049485">
                <a:moveTo>
                  <a:pt x="0" y="0"/>
                </a:moveTo>
                <a:lnTo>
                  <a:pt x="2952751" y="0"/>
                </a:lnTo>
                <a:lnTo>
                  <a:pt x="2952750" y="3940629"/>
                </a:lnTo>
                <a:lnTo>
                  <a:pt x="122465" y="4049485"/>
                </a:lnTo>
                <a:lnTo>
                  <a:pt x="0" y="4040388"/>
                </a:lnTo>
                <a:close/>
              </a:path>
            </a:pathLst>
          </a:cu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1655B4F-4050-4B1F-82A8-180E74CF9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EA4C97B-84C4-4658-A6D6-600CB62B4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4FE591E-19B9-480D-9B26-EB96D70C2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B9FEBA71-E4C3-0633-86D7-6FC2D273C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320" y="4609384"/>
            <a:ext cx="6790949" cy="189802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В web-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приложении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реализованы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поиск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товаров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фильтрация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категорий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и modal window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для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отображения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информации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о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продукции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Также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были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добавлены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адаптивный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дизайн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проверка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формы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обратной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связи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и flash messages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для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взаимодействия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 с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пользователем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434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D5990D-8D1C-4D3E-2802-94BEE6A55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16705"/>
            <a:ext cx="5294716" cy="522458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479DD9-86A4-15BE-44C4-BB36E95E6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288" y="643467"/>
            <a:ext cx="485977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3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700CD00-DF3E-4660-A6EC-A18C3B7F9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4E67F-C8DA-CA3E-43D4-70CAB4CB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20" y="4518338"/>
            <a:ext cx="3712531" cy="1810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Результаты</a:t>
            </a:r>
            <a:r>
              <a:rPr lang="en-US" sz="4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разработки</a:t>
            </a:r>
            <a:endParaRPr lang="en-US" sz="4800" b="1" kern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Объект 3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E55758-2569-A510-9711-DCEAA16E0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7161"/>
          <a:stretch>
            <a:fillRect/>
          </a:stretch>
        </p:blipFill>
        <p:spPr>
          <a:xfrm>
            <a:off x="6" y="2"/>
            <a:ext cx="6000749" cy="3342653"/>
          </a:xfrm>
          <a:custGeom>
            <a:avLst/>
            <a:gdLst/>
            <a:ahLst/>
            <a:cxnLst/>
            <a:rect l="l" t="t" r="r" b="b"/>
            <a:pathLst>
              <a:path w="6000749" h="3342653">
                <a:moveTo>
                  <a:pt x="0" y="0"/>
                </a:moveTo>
                <a:lnTo>
                  <a:pt x="6000749" y="0"/>
                </a:lnTo>
                <a:lnTo>
                  <a:pt x="6000749" y="3198652"/>
                </a:lnTo>
                <a:lnTo>
                  <a:pt x="5572124" y="3171203"/>
                </a:lnTo>
                <a:lnTo>
                  <a:pt x="0" y="3342653"/>
                </a:lnTo>
                <a:close/>
              </a:path>
            </a:pathLst>
          </a:custGeom>
        </p:spPr>
      </p:pic>
      <p:pic>
        <p:nvPicPr>
          <p:cNvPr id="5" name="Рисунок 4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A81243-5414-BFFA-6FA1-30D3552CD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8" r="-1" b="-1"/>
          <a:stretch>
            <a:fillRect/>
          </a:stretch>
        </p:blipFill>
        <p:spPr>
          <a:xfrm>
            <a:off x="6191245" y="2"/>
            <a:ext cx="6000750" cy="3418853"/>
          </a:xfrm>
          <a:custGeom>
            <a:avLst/>
            <a:gdLst/>
            <a:ahLst/>
            <a:cxnLst/>
            <a:rect l="l" t="t" r="r" b="b"/>
            <a:pathLst>
              <a:path w="6000750" h="3418853">
                <a:moveTo>
                  <a:pt x="0" y="0"/>
                </a:moveTo>
                <a:lnTo>
                  <a:pt x="6000750" y="0"/>
                </a:lnTo>
                <a:lnTo>
                  <a:pt x="6000750" y="227978"/>
                </a:lnTo>
                <a:lnTo>
                  <a:pt x="6000750" y="2065168"/>
                </a:lnTo>
                <a:lnTo>
                  <a:pt x="6000750" y="3342653"/>
                </a:lnTo>
                <a:lnTo>
                  <a:pt x="3248025" y="3418853"/>
                </a:lnTo>
                <a:lnTo>
                  <a:pt x="0" y="3210852"/>
                </a:lnTo>
                <a:close/>
              </a:path>
            </a:pathLst>
          </a:cu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9AB5DBD-0A57-4DBC-B49F-205E268F1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12192000" cy="757168"/>
            <a:chOff x="0" y="2959818"/>
            <a:chExt cx="12192000" cy="75716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1DE7FF6-DA62-40A9-8F5D-F82D3020F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D38D133-BB29-4B7D-AFB2-7D132F45A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559DA56E-C5D9-CDBE-3380-34BE6BC67806}"/>
              </a:ext>
            </a:extLst>
          </p:cNvPr>
          <p:cNvSpPr txBox="1"/>
          <p:nvPr/>
        </p:nvSpPr>
        <p:spPr>
          <a:xfrm>
            <a:off x="5048338" y="4197093"/>
            <a:ext cx="6308637" cy="2264712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В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результате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работы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был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разработан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современный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интернет-магазин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спортивной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одежды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с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использованием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HTML, CSS и JavaScript.</a:t>
            </a:r>
            <a:br>
              <a:rPr lang="en-US" sz="2000" dirty="0"/>
            </a:b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Был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реализован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интерактивный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интерфейс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адаптивный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дизайн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и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удобная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навигация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сайта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</a:t>
            </a:r>
            <a:br>
              <a:rPr lang="en-US" sz="2000" dirty="0"/>
            </a:b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В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процессе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разработки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были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получены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практические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навыки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frontend-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разработки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</a:t>
            </a:r>
            <a:endParaRPr lang="ru-RU" sz="20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996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A3F99C-5DCB-A77C-B8DD-93C01083A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628" y="643466"/>
            <a:ext cx="4930394" cy="557106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008220-C74C-70F4-FF6B-5E9E098B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145" y="643467"/>
            <a:ext cx="461005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196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280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Trebuchet MS</vt:lpstr>
      <vt:lpstr>Тема Office</vt:lpstr>
      <vt:lpstr>PowerPoint Presentation</vt:lpstr>
      <vt:lpstr>Цель и задачи разработки</vt:lpstr>
      <vt:lpstr>PowerPoint Presentation</vt:lpstr>
      <vt:lpstr>Используемые технологии</vt:lpstr>
      <vt:lpstr>PowerPoint Presentation</vt:lpstr>
      <vt:lpstr>Структура и страницы сайта</vt:lpstr>
      <vt:lpstr>PowerPoint Presentation</vt:lpstr>
      <vt:lpstr>PowerPoint Presentation</vt:lpstr>
      <vt:lpstr>Функциональные возможности</vt:lpstr>
      <vt:lpstr>PowerPoint Presentation</vt:lpstr>
      <vt:lpstr>Результаты разработки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Farkhad</dc:creator>
  <cp:lastModifiedBy>Farkhad Farzana</cp:lastModifiedBy>
  <cp:revision>408</cp:revision>
  <dcterms:created xsi:type="dcterms:W3CDTF">2026-05-11T16:02:04Z</dcterms:created>
  <dcterms:modified xsi:type="dcterms:W3CDTF">2026-05-14T18:20:19Z</dcterms:modified>
</cp:coreProperties>
</file>